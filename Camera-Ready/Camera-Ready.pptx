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Open Sans Bold" charset="1" panose="020B0806030504020204"/>
      <p:regular r:id="rId31"/>
    </p:embeddedFont>
    <p:embeddedFont>
      <p:font typeface="Open Sans" charset="1" panose="020B060603050402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https://drive.usercontent.google.com/u/0/uc?id=11E_pOCovsNs17kBm1RgLzbrHCC8K7JJm&amp;export=download" TargetMode="External" Type="http://schemas.openxmlformats.org/officeDocument/2006/relationships/hyperlink"/><Relationship Id="rId3" Target="https://drive.google.com/file/d/1ePhjnCEcdu_hUg0yakphMWUm3d5FRBRI/view?usp=sharing"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76200"/>
            <a:ext cx="4071257" cy="662940"/>
          </a:xfrm>
          <a:prstGeom prst="rect">
            <a:avLst/>
          </a:prstGeom>
        </p:spPr>
        <p:txBody>
          <a:bodyPr anchor="t" rtlCol="false" tIns="0" lIns="0" bIns="0" rIns="0">
            <a:spAutoFit/>
          </a:bodyPr>
          <a:lstStyle/>
          <a:p>
            <a:pPr algn="ctr">
              <a:lnSpc>
                <a:spcPts val="5459"/>
              </a:lnSpc>
              <a:spcBef>
                <a:spcPct val="0"/>
              </a:spcBef>
            </a:pPr>
            <a:r>
              <a:rPr lang="en-US" b="true" sz="3899">
                <a:solidFill>
                  <a:srgbClr val="000000"/>
                </a:solidFill>
                <a:latin typeface="Open Sans Bold"/>
                <a:ea typeface="Open Sans Bold"/>
                <a:cs typeface="Open Sans Bold"/>
                <a:sym typeface="Open Sans Bold"/>
              </a:rPr>
              <a:t>Camera Ready</a:t>
            </a:r>
          </a:p>
        </p:txBody>
      </p:sp>
      <p:sp>
        <p:nvSpPr>
          <p:cNvPr name="TextBox 3" id="3"/>
          <p:cNvSpPr txBox="true"/>
          <p:nvPr/>
        </p:nvSpPr>
        <p:spPr>
          <a:xfrm rot="0">
            <a:off x="239486" y="539115"/>
            <a:ext cx="17809029" cy="3168649"/>
          </a:xfrm>
          <a:prstGeom prst="rect">
            <a:avLst/>
          </a:prstGeom>
        </p:spPr>
        <p:txBody>
          <a:bodyPr anchor="t" rtlCol="false" tIns="0" lIns="0" bIns="0" rIns="0">
            <a:spAutoFit/>
          </a:bodyPr>
          <a:lstStyle/>
          <a:p>
            <a:pPr algn="l">
              <a:lnSpc>
                <a:spcPts val="2800"/>
              </a:lnSpc>
              <a:spcBef>
                <a:spcPct val="0"/>
              </a:spcBef>
            </a:pPr>
            <a:r>
              <a:rPr lang="en-US" sz="2000">
                <a:solidFill>
                  <a:srgbClr val="000000"/>
                </a:solidFill>
                <a:latin typeface="Open Sans"/>
                <a:ea typeface="Open Sans"/>
                <a:cs typeface="Open Sans"/>
                <a:sym typeface="Open Sans"/>
              </a:rPr>
              <a:t>Dear Authors,</a:t>
            </a:r>
          </a:p>
          <a:p>
            <a:pPr algn="l">
              <a:lnSpc>
                <a:spcPts val="2800"/>
              </a:lnSpc>
              <a:spcBef>
                <a:spcPct val="0"/>
              </a:spcBef>
            </a:pPr>
            <a:r>
              <a:rPr lang="en-US" sz="2000">
                <a:solidFill>
                  <a:srgbClr val="000000"/>
                </a:solidFill>
                <a:latin typeface="Open Sans"/>
                <a:ea typeface="Open Sans"/>
                <a:cs typeface="Open Sans"/>
                <a:sym typeface="Open Sans"/>
              </a:rPr>
              <a:t>We would like to congratulate you for the acceptance of your article. Your contribution will be very important for the academic community. However, to formalize the publication of your document on IEEEXplore, you need to comply with 4 phases, and submit your final version until 10/08/2025:</a:t>
            </a:r>
          </a:p>
          <a:p>
            <a:pPr algn="l" marL="431807" indent="-215904" lvl="1">
              <a:lnSpc>
                <a:spcPts val="2800"/>
              </a:lnSpc>
              <a:buFont typeface="Arial"/>
              <a:buChar char="•"/>
            </a:pPr>
            <a:r>
              <a:rPr lang="en-US" sz="2000">
                <a:solidFill>
                  <a:srgbClr val="000000"/>
                </a:solidFill>
                <a:latin typeface="Open Sans"/>
                <a:ea typeface="Open Sans"/>
                <a:cs typeface="Open Sans"/>
                <a:sym typeface="Open Sans"/>
              </a:rPr>
              <a:t>Paper style adjustment according to the IEEE template</a:t>
            </a:r>
          </a:p>
          <a:p>
            <a:pPr algn="l" marL="431807" indent="-215904" lvl="1">
              <a:lnSpc>
                <a:spcPts val="2800"/>
              </a:lnSpc>
              <a:buFont typeface="Arial"/>
              <a:buChar char="•"/>
            </a:pPr>
            <a:r>
              <a:rPr lang="en-US" sz="2000">
                <a:solidFill>
                  <a:srgbClr val="000000"/>
                </a:solidFill>
                <a:latin typeface="Open Sans"/>
                <a:ea typeface="Open Sans"/>
                <a:cs typeface="Open Sans"/>
                <a:sym typeface="Open Sans"/>
              </a:rPr>
              <a:t>PDF eXpress verification</a:t>
            </a:r>
          </a:p>
          <a:p>
            <a:pPr algn="l" marL="431807" indent="-215904" lvl="1">
              <a:lnSpc>
                <a:spcPts val="2800"/>
              </a:lnSpc>
              <a:buFont typeface="Arial"/>
              <a:buChar char="•"/>
            </a:pPr>
            <a:r>
              <a:rPr lang="en-US" sz="2000">
                <a:solidFill>
                  <a:srgbClr val="000000"/>
                </a:solidFill>
                <a:latin typeface="Open Sans"/>
                <a:ea typeface="Open Sans"/>
                <a:cs typeface="Open Sans"/>
                <a:sym typeface="Open Sans"/>
              </a:rPr>
              <a:t>Final version submission on EasyChair.</a:t>
            </a:r>
          </a:p>
          <a:p>
            <a:pPr algn="l" marL="431807" indent="-215904" lvl="1">
              <a:lnSpc>
                <a:spcPts val="2800"/>
              </a:lnSpc>
              <a:buFont typeface="Arial"/>
              <a:buChar char="•"/>
            </a:pPr>
            <a:r>
              <a:rPr lang="en-US" sz="2000">
                <a:solidFill>
                  <a:srgbClr val="000000"/>
                </a:solidFill>
                <a:latin typeface="Open Sans"/>
                <a:ea typeface="Open Sans"/>
                <a:cs typeface="Open Sans"/>
                <a:sym typeface="Open Sans"/>
              </a:rPr>
              <a:t>Copyright agreement signature.</a:t>
            </a:r>
          </a:p>
          <a:p>
            <a:pPr algn="l" marL="431807" indent="-215904" lvl="1">
              <a:lnSpc>
                <a:spcPts val="2800"/>
              </a:lnSpc>
              <a:buFont typeface="Arial"/>
              <a:buChar char="•"/>
            </a:pPr>
            <a:r>
              <a:rPr lang="en-US" sz="2000">
                <a:solidFill>
                  <a:srgbClr val="000000"/>
                </a:solidFill>
                <a:latin typeface="Open Sans"/>
                <a:ea typeface="Open Sans"/>
                <a:cs typeface="Open Sans"/>
                <a:sym typeface="Open Sans"/>
              </a:rPr>
              <a:t>Next, each of the phases will be detailed, keeping the order:</a:t>
            </a:r>
          </a:p>
          <a:p>
            <a:pPr algn="l">
              <a:lnSpc>
                <a:spcPts val="280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39486" y="539115"/>
            <a:ext cx="17809029" cy="4930774"/>
          </a:xfrm>
          <a:prstGeom prst="rect">
            <a:avLst/>
          </a:prstGeom>
        </p:spPr>
        <p:txBody>
          <a:bodyPr anchor="t" rtlCol="false" tIns="0" lIns="0" bIns="0" rIns="0">
            <a:spAutoFit/>
          </a:bodyPr>
          <a:lstStyle/>
          <a:p>
            <a:pPr algn="l">
              <a:lnSpc>
                <a:spcPts val="2800"/>
              </a:lnSpc>
            </a:pPr>
          </a:p>
          <a:p>
            <a:pPr algn="l">
              <a:lnSpc>
                <a:spcPts val="2800"/>
              </a:lnSpc>
            </a:pPr>
          </a:p>
          <a:p>
            <a:pPr algn="l">
              <a:lnSpc>
                <a:spcPts val="2800"/>
              </a:lnSpc>
            </a:pPr>
            <a:r>
              <a:rPr lang="en-US" b="true" sz="2000">
                <a:solidFill>
                  <a:srgbClr val="000000"/>
                </a:solidFill>
                <a:latin typeface="Open Sans Bold"/>
                <a:ea typeface="Open Sans Bold"/>
                <a:cs typeface="Open Sans Bold"/>
                <a:sym typeface="Open Sans Bold"/>
              </a:rPr>
              <a:t>Phase 1. Paper style adjustment according to the IEEE template</a:t>
            </a:r>
          </a:p>
          <a:p>
            <a:pPr algn="l">
              <a:lnSpc>
                <a:spcPts val="2800"/>
              </a:lnSpc>
            </a:pPr>
            <a:r>
              <a:rPr lang="en-US" sz="2000">
                <a:solidFill>
                  <a:srgbClr val="000000"/>
                </a:solidFill>
                <a:latin typeface="Open Sans"/>
                <a:ea typeface="Open Sans"/>
                <a:cs typeface="Open Sans"/>
                <a:sym typeface="Open Sans"/>
              </a:rPr>
              <a:t>At this stage it is needed to adjust the paper style according to the IEEE format. Those papers using the LaTeX sources, must replace the phrase </a:t>
            </a:r>
            <a:r>
              <a:rPr lang="en-US" b="true" sz="2000">
                <a:solidFill>
                  <a:srgbClr val="000000"/>
                </a:solidFill>
                <a:latin typeface="Open Sans Bold"/>
                <a:ea typeface="Open Sans Bold"/>
                <a:cs typeface="Open Sans Bold"/>
                <a:sym typeface="Open Sans Bold"/>
              </a:rPr>
              <a:t>Index Terms</a:t>
            </a:r>
            <a:r>
              <a:rPr lang="en-US" sz="2000">
                <a:solidFill>
                  <a:srgbClr val="000000"/>
                </a:solidFill>
                <a:latin typeface="Open Sans"/>
                <a:ea typeface="Open Sans"/>
                <a:cs typeface="Open Sans"/>
                <a:sym typeface="Open Sans"/>
              </a:rPr>
              <a:t> with </a:t>
            </a:r>
            <a:r>
              <a:rPr lang="en-US" b="true" sz="2000">
                <a:solidFill>
                  <a:srgbClr val="000000"/>
                </a:solidFill>
                <a:latin typeface="Open Sans Bold"/>
                <a:ea typeface="Open Sans Bold"/>
                <a:cs typeface="Open Sans Bold"/>
                <a:sym typeface="Open Sans Bold"/>
              </a:rPr>
              <a:t>Keywords</a:t>
            </a:r>
            <a:r>
              <a:rPr lang="en-US" sz="2000">
                <a:solidFill>
                  <a:srgbClr val="000000"/>
                </a:solidFill>
                <a:latin typeface="Open Sans"/>
                <a:ea typeface="Open Sans"/>
                <a:cs typeface="Open Sans"/>
                <a:sym typeface="Open Sans"/>
              </a:rPr>
              <a:t>. Likewise, be attentive to the information of the authors and affiliations. Additionally, the Copyright notice must be included in the document. Papers must not exceed six pages in length. Ignore the header, and please do not number your pages.</a:t>
            </a:r>
          </a:p>
          <a:p>
            <a:pPr algn="l" marL="431807" indent="-215904" lvl="1">
              <a:lnSpc>
                <a:spcPts val="2800"/>
              </a:lnSpc>
              <a:buFont typeface="Arial"/>
              <a:buChar char="•"/>
            </a:pPr>
            <a:r>
              <a:rPr lang="en-US" sz="2000" u="sng">
                <a:solidFill>
                  <a:srgbClr val="000000"/>
                </a:solidFill>
                <a:latin typeface="Open Sans"/>
                <a:ea typeface="Open Sans"/>
                <a:cs typeface="Open Sans"/>
                <a:sym typeface="Open Sans"/>
                <a:hlinkClick r:id="rId2" tooltip="https://drive.usercontent.google.com/u/0/uc?id=11E_pOCovsNs17kBm1RgLzbrHCC8K7JJm&amp;export=download"/>
              </a:rPr>
              <a:t>Word template</a:t>
            </a:r>
          </a:p>
          <a:p>
            <a:pPr algn="l" marL="431807" indent="-215904" lvl="1">
              <a:lnSpc>
                <a:spcPts val="2800"/>
              </a:lnSpc>
              <a:buFont typeface="Arial"/>
              <a:buChar char="•"/>
            </a:pPr>
            <a:r>
              <a:rPr lang="en-US" sz="2000" u="sng">
                <a:solidFill>
                  <a:srgbClr val="000000"/>
                </a:solidFill>
                <a:latin typeface="Open Sans"/>
                <a:ea typeface="Open Sans"/>
                <a:cs typeface="Open Sans"/>
                <a:sym typeface="Open Sans"/>
                <a:hlinkClick r:id="rId3" tooltip="https://drive.google.com/file/d/1ePhjnCEcdu_hUg0yakphMWUm3d5FRBRI/view?usp=sharing"/>
              </a:rPr>
              <a:t>Latex template</a:t>
            </a:r>
          </a:p>
          <a:p>
            <a:pPr algn="l" marL="431807" indent="-215904" lvl="1">
              <a:lnSpc>
                <a:spcPts val="2800"/>
              </a:lnSpc>
              <a:buFont typeface="Arial"/>
              <a:buChar char="•"/>
            </a:pPr>
            <a:r>
              <a:rPr lang="en-US" sz="2000">
                <a:solidFill>
                  <a:srgbClr val="000000"/>
                </a:solidFill>
                <a:latin typeface="Open Sans"/>
                <a:ea typeface="Open Sans"/>
                <a:cs typeface="Open Sans"/>
                <a:sym typeface="Open Sans"/>
              </a:rPr>
              <a:t>Copyright notice, included in the templete (must be included manually by authors):</a:t>
            </a:r>
          </a:p>
          <a:p>
            <a:pPr algn="l">
              <a:lnSpc>
                <a:spcPts val="2800"/>
              </a:lnSpc>
            </a:pPr>
            <a:r>
              <a:rPr lang="en-US" sz="2000">
                <a:solidFill>
                  <a:srgbClr val="000000"/>
                </a:solidFill>
                <a:latin typeface="Open Sans"/>
                <a:ea typeface="Open Sans"/>
                <a:cs typeface="Open Sans"/>
                <a:sym typeface="Open Sans"/>
              </a:rPr>
              <a:t>For papers in which all authors are employed by the US government, the copyright notice is: </a:t>
            </a:r>
            <a:r>
              <a:rPr lang="en-US" b="true" sz="2000">
                <a:solidFill>
                  <a:srgbClr val="000000"/>
                </a:solidFill>
                <a:latin typeface="Open Sans Bold"/>
                <a:ea typeface="Open Sans Bold"/>
                <a:cs typeface="Open Sans Bold"/>
                <a:sym typeface="Open Sans Bold"/>
              </a:rPr>
              <a:t>U.S. Government work not protected by U.S. copyright</a:t>
            </a:r>
          </a:p>
          <a:p>
            <a:pPr algn="l">
              <a:lnSpc>
                <a:spcPts val="2800"/>
              </a:lnSpc>
            </a:pPr>
            <a:r>
              <a:rPr lang="en-US" sz="2000">
                <a:solidFill>
                  <a:srgbClr val="000000"/>
                </a:solidFill>
                <a:latin typeface="Open Sans"/>
                <a:ea typeface="Open Sans"/>
                <a:cs typeface="Open Sans"/>
                <a:sym typeface="Open Sans"/>
              </a:rPr>
              <a:t>For papers in which all authors are employed by a Crown government (UK, Canada, and Australia), the copyright notice is: </a:t>
            </a:r>
            <a:r>
              <a:rPr lang="en-US" b="true" sz="2000">
                <a:solidFill>
                  <a:srgbClr val="000000"/>
                </a:solidFill>
                <a:latin typeface="Open Sans Bold"/>
                <a:ea typeface="Open Sans Bold"/>
                <a:cs typeface="Open Sans Bold"/>
                <a:sym typeface="Open Sans Bold"/>
              </a:rPr>
              <a:t>979-8-3503-9158-9/24/$31.00</a:t>
            </a:r>
            <a:r>
              <a:rPr lang="en-US" sz="2000">
                <a:solidFill>
                  <a:srgbClr val="000000"/>
                </a:solidFill>
                <a:latin typeface="Open Sans"/>
                <a:ea typeface="Open Sans"/>
                <a:cs typeface="Open Sans"/>
                <a:sym typeface="Open Sans"/>
              </a:rPr>
              <a:t> ©</a:t>
            </a:r>
            <a:r>
              <a:rPr lang="en-US" b="true" sz="2000">
                <a:solidFill>
                  <a:srgbClr val="000000"/>
                </a:solidFill>
                <a:latin typeface="Open Sans Bold"/>
                <a:ea typeface="Open Sans Bold"/>
                <a:cs typeface="Open Sans Bold"/>
                <a:sym typeface="Open Sans Bold"/>
              </a:rPr>
              <a:t>2024 Crown</a:t>
            </a:r>
          </a:p>
          <a:p>
            <a:pPr algn="l">
              <a:lnSpc>
                <a:spcPts val="2800"/>
              </a:lnSpc>
            </a:pPr>
            <a:r>
              <a:rPr lang="en-US" sz="2000">
                <a:solidFill>
                  <a:srgbClr val="000000"/>
                </a:solidFill>
                <a:latin typeface="Open Sans"/>
                <a:ea typeface="Open Sans"/>
                <a:cs typeface="Open Sans"/>
                <a:sym typeface="Open Sans"/>
              </a:rPr>
              <a:t>For papers in which all authors are employed by the European Union, the copyright notice is: </a:t>
            </a:r>
            <a:r>
              <a:rPr lang="en-US" b="true" sz="2000">
                <a:solidFill>
                  <a:srgbClr val="000000"/>
                </a:solidFill>
                <a:latin typeface="Open Sans Bold"/>
                <a:ea typeface="Open Sans Bold"/>
                <a:cs typeface="Open Sans Bold"/>
                <a:sym typeface="Open Sans Bold"/>
              </a:rPr>
              <a:t>979-8-3503-9158-9/24/$31.00</a:t>
            </a:r>
            <a:r>
              <a:rPr lang="en-US" sz="2000">
                <a:solidFill>
                  <a:srgbClr val="000000"/>
                </a:solidFill>
                <a:latin typeface="Open Sans"/>
                <a:ea typeface="Open Sans"/>
                <a:cs typeface="Open Sans"/>
                <a:sym typeface="Open Sans"/>
              </a:rPr>
              <a:t> ©</a:t>
            </a:r>
            <a:r>
              <a:rPr lang="en-US" b="true" sz="2000">
                <a:solidFill>
                  <a:srgbClr val="000000"/>
                </a:solidFill>
                <a:latin typeface="Open Sans Bold"/>
                <a:ea typeface="Open Sans Bold"/>
                <a:cs typeface="Open Sans Bold"/>
                <a:sym typeface="Open Sans Bold"/>
              </a:rPr>
              <a:t>2024 European Union</a:t>
            </a:r>
          </a:p>
          <a:p>
            <a:pPr algn="l">
              <a:lnSpc>
                <a:spcPts val="2800"/>
              </a:lnSpc>
            </a:pPr>
            <a:r>
              <a:rPr lang="en-US" sz="2000">
                <a:solidFill>
                  <a:srgbClr val="000000"/>
                </a:solidFill>
                <a:latin typeface="Open Sans"/>
                <a:ea typeface="Open Sans"/>
                <a:cs typeface="Open Sans"/>
                <a:sym typeface="Open Sans"/>
              </a:rPr>
              <a:t>For all other papers the copyright notice is: </a:t>
            </a:r>
            <a:r>
              <a:rPr lang="en-US" b="true" sz="2000">
                <a:solidFill>
                  <a:srgbClr val="000000"/>
                </a:solidFill>
                <a:latin typeface="Open Sans Bold"/>
                <a:ea typeface="Open Sans Bold"/>
                <a:cs typeface="Open Sans Bold"/>
                <a:sym typeface="Open Sans Bold"/>
              </a:rPr>
              <a:t>979-8-3503-9158-9/24/$31.00 ©2024 IEEE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02653" y="859445"/>
            <a:ext cx="13482695" cy="9427555"/>
          </a:xfrm>
          <a:custGeom>
            <a:avLst/>
            <a:gdLst/>
            <a:ahLst/>
            <a:cxnLst/>
            <a:rect r="r" b="b" t="t" l="l"/>
            <a:pathLst>
              <a:path h="9427555" w="13482695">
                <a:moveTo>
                  <a:pt x="0" y="0"/>
                </a:moveTo>
                <a:lnTo>
                  <a:pt x="13482694" y="0"/>
                </a:lnTo>
                <a:lnTo>
                  <a:pt x="13482694" y="9427555"/>
                </a:lnTo>
                <a:lnTo>
                  <a:pt x="0" y="9427555"/>
                </a:lnTo>
                <a:lnTo>
                  <a:pt x="0" y="0"/>
                </a:lnTo>
                <a:close/>
              </a:path>
            </a:pathLst>
          </a:custGeom>
          <a:blipFill>
            <a:blip r:embed="rId2"/>
            <a:stretch>
              <a:fillRect l="0" t="0" r="0" b="0"/>
            </a:stretch>
          </a:blipFill>
        </p:spPr>
      </p:sp>
      <p:sp>
        <p:nvSpPr>
          <p:cNvPr name="TextBox 3" id="3"/>
          <p:cNvSpPr txBox="true"/>
          <p:nvPr/>
        </p:nvSpPr>
        <p:spPr>
          <a:xfrm rot="0">
            <a:off x="327250" y="-28575"/>
            <a:ext cx="14571732" cy="816609"/>
          </a:xfrm>
          <a:prstGeom prst="rect">
            <a:avLst/>
          </a:prstGeom>
        </p:spPr>
        <p:txBody>
          <a:bodyPr anchor="t" rtlCol="false" tIns="0" lIns="0" bIns="0" rIns="0">
            <a:spAutoFit/>
          </a:bodyPr>
          <a:lstStyle/>
          <a:p>
            <a:pPr algn="l">
              <a:lnSpc>
                <a:spcPts val="2240"/>
              </a:lnSpc>
              <a:spcBef>
                <a:spcPct val="0"/>
              </a:spcBef>
            </a:pPr>
            <a:r>
              <a:rPr lang="en-US" b="true" sz="1600">
                <a:solidFill>
                  <a:srgbClr val="000000"/>
                </a:solidFill>
                <a:latin typeface="Open Sans Bold"/>
                <a:ea typeface="Open Sans Bold"/>
                <a:cs typeface="Open Sans Bold"/>
                <a:sym typeface="Open Sans Bold"/>
              </a:rPr>
              <a:t>Phase 2. PDF eXpress verification</a:t>
            </a:r>
          </a:p>
          <a:p>
            <a:pPr algn="l">
              <a:lnSpc>
                <a:spcPts val="2240"/>
              </a:lnSpc>
              <a:spcBef>
                <a:spcPct val="0"/>
              </a:spcBef>
            </a:pPr>
            <a:r>
              <a:rPr lang="en-US" sz="1600">
                <a:solidFill>
                  <a:srgbClr val="000000"/>
                </a:solidFill>
                <a:latin typeface="Open Sans"/>
                <a:ea typeface="Open Sans"/>
                <a:cs typeface="Open Sans"/>
                <a:sym typeface="Open Sans"/>
              </a:rPr>
              <a:t>Create Account for the ETCM conference using 63562X as conference ID</a:t>
            </a:r>
          </a:p>
          <a:p>
            <a:pPr algn="l">
              <a:lnSpc>
                <a:spcPts val="2240"/>
              </a:lnSpc>
              <a:spcBef>
                <a:spcPct val="0"/>
              </a:spcBef>
            </a:pPr>
            <a:r>
              <a:rPr lang="en-US" sz="1600">
                <a:solidFill>
                  <a:srgbClr val="000000"/>
                </a:solidFill>
                <a:latin typeface="Open Sans"/>
                <a:ea typeface="Open Sans"/>
                <a:cs typeface="Open Sans"/>
                <a:sym typeface="Open Sans"/>
              </a:rPr>
              <a:t>https://ieee-pdf-express.org/account/login?ReturnUrl=%2F</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2870"/>
            <a:ext cx="18288000" cy="10081260"/>
          </a:xfrm>
          <a:custGeom>
            <a:avLst/>
            <a:gdLst/>
            <a:ahLst/>
            <a:cxnLst/>
            <a:rect r="r" b="b" t="t" l="l"/>
            <a:pathLst>
              <a:path h="10081260" w="18288000">
                <a:moveTo>
                  <a:pt x="0" y="0"/>
                </a:moveTo>
                <a:lnTo>
                  <a:pt x="18288000" y="0"/>
                </a:lnTo>
                <a:lnTo>
                  <a:pt x="18288000" y="10081260"/>
                </a:lnTo>
                <a:lnTo>
                  <a:pt x="0" y="10081260"/>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337310"/>
            <a:ext cx="18288000" cy="7612380"/>
          </a:xfrm>
          <a:custGeom>
            <a:avLst/>
            <a:gdLst/>
            <a:ahLst/>
            <a:cxnLst/>
            <a:rect r="r" b="b" t="t" l="l"/>
            <a:pathLst>
              <a:path h="7612380" w="18288000">
                <a:moveTo>
                  <a:pt x="0" y="0"/>
                </a:moveTo>
                <a:lnTo>
                  <a:pt x="18288000" y="0"/>
                </a:lnTo>
                <a:lnTo>
                  <a:pt x="18288000" y="7612380"/>
                </a:lnTo>
                <a:lnTo>
                  <a:pt x="0" y="7612380"/>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80110"/>
            <a:ext cx="18288000" cy="8526780"/>
          </a:xfrm>
          <a:custGeom>
            <a:avLst/>
            <a:gdLst/>
            <a:ahLst/>
            <a:cxnLst/>
            <a:rect r="r" b="b" t="t" l="l"/>
            <a:pathLst>
              <a:path h="8526780" w="18288000">
                <a:moveTo>
                  <a:pt x="0" y="0"/>
                </a:moveTo>
                <a:lnTo>
                  <a:pt x="18288000" y="0"/>
                </a:lnTo>
                <a:lnTo>
                  <a:pt x="18288000" y="8526780"/>
                </a:lnTo>
                <a:lnTo>
                  <a:pt x="0" y="8526780"/>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28700"/>
            <a:ext cx="18288000" cy="8686800"/>
          </a:xfrm>
          <a:custGeom>
            <a:avLst/>
            <a:gdLst/>
            <a:ahLst/>
            <a:cxnLst/>
            <a:rect r="r" b="b" t="t" l="l"/>
            <a:pathLst>
              <a:path h="8686800" w="18288000">
                <a:moveTo>
                  <a:pt x="0" y="0"/>
                </a:moveTo>
                <a:lnTo>
                  <a:pt x="18288000" y="0"/>
                </a:lnTo>
                <a:lnTo>
                  <a:pt x="18288000" y="8686800"/>
                </a:lnTo>
                <a:lnTo>
                  <a:pt x="0" y="8686800"/>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280160"/>
            <a:ext cx="18288000" cy="7726680"/>
          </a:xfrm>
          <a:custGeom>
            <a:avLst/>
            <a:gdLst/>
            <a:ahLst/>
            <a:cxnLst/>
            <a:rect r="r" b="b" t="t" l="l"/>
            <a:pathLst>
              <a:path h="7726680" w="18288000">
                <a:moveTo>
                  <a:pt x="0" y="0"/>
                </a:moveTo>
                <a:lnTo>
                  <a:pt x="18288000" y="0"/>
                </a:lnTo>
                <a:lnTo>
                  <a:pt x="18288000" y="7726680"/>
                </a:lnTo>
                <a:lnTo>
                  <a:pt x="0" y="772668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897380"/>
            <a:ext cx="18288000" cy="6492240"/>
          </a:xfrm>
          <a:custGeom>
            <a:avLst/>
            <a:gdLst/>
            <a:ahLst/>
            <a:cxnLst/>
            <a:rect r="r" b="b" t="t" l="l"/>
            <a:pathLst>
              <a:path h="6492240" w="18288000">
                <a:moveTo>
                  <a:pt x="0" y="0"/>
                </a:moveTo>
                <a:lnTo>
                  <a:pt x="18288000" y="0"/>
                </a:lnTo>
                <a:lnTo>
                  <a:pt x="18288000" y="6492240"/>
                </a:lnTo>
                <a:lnTo>
                  <a:pt x="0" y="6492240"/>
                </a:lnTo>
                <a:lnTo>
                  <a:pt x="0" y="0"/>
                </a:lnTo>
                <a:close/>
              </a:path>
            </a:pathLst>
          </a:custGeom>
          <a:blipFill>
            <a:blip r:embed="rId2"/>
            <a:stretch>
              <a:fillRect l="0" t="0" r="0" b="0"/>
            </a:stretch>
          </a:blipFill>
        </p:spPr>
      </p:sp>
      <p:sp>
        <p:nvSpPr>
          <p:cNvPr name="TextBox 3" id="3"/>
          <p:cNvSpPr txBox="true"/>
          <p:nvPr/>
        </p:nvSpPr>
        <p:spPr>
          <a:xfrm rot="0">
            <a:off x="523354" y="-47625"/>
            <a:ext cx="17241292" cy="389254"/>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Open Sans"/>
                <a:ea typeface="Open Sans"/>
                <a:cs typeface="Open Sans"/>
                <a:sym typeface="Open Sans"/>
              </a:rPr>
              <a:t>Authors will receive an email with the PDF generated by PDFeXpress. You can also download it from the icon highlighted in red.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045970"/>
            <a:ext cx="18288000" cy="6195060"/>
          </a:xfrm>
          <a:custGeom>
            <a:avLst/>
            <a:gdLst/>
            <a:ahLst/>
            <a:cxnLst/>
            <a:rect r="r" b="b" t="t" l="l"/>
            <a:pathLst>
              <a:path h="6195060" w="18288000">
                <a:moveTo>
                  <a:pt x="0" y="0"/>
                </a:moveTo>
                <a:lnTo>
                  <a:pt x="18288000" y="0"/>
                </a:lnTo>
                <a:lnTo>
                  <a:pt x="18288000" y="6195060"/>
                </a:lnTo>
                <a:lnTo>
                  <a:pt x="0" y="6195060"/>
                </a:lnTo>
                <a:lnTo>
                  <a:pt x="0" y="0"/>
                </a:lnTo>
                <a:close/>
              </a:path>
            </a:pathLst>
          </a:custGeom>
          <a:blipFill>
            <a:blip r:embed="rId2"/>
            <a:stretch>
              <a:fillRect l="0" t="0" r="0" b="0"/>
            </a:stretch>
          </a:blipFill>
        </p:spPr>
      </p:sp>
      <p:sp>
        <p:nvSpPr>
          <p:cNvPr name="TextBox 3" id="3"/>
          <p:cNvSpPr txBox="true"/>
          <p:nvPr/>
        </p:nvSpPr>
        <p:spPr>
          <a:xfrm rot="0">
            <a:off x="0" y="-57150"/>
            <a:ext cx="18288000" cy="976630"/>
          </a:xfrm>
          <a:prstGeom prst="rect">
            <a:avLst/>
          </a:prstGeom>
        </p:spPr>
        <p:txBody>
          <a:bodyPr anchor="t" rtlCol="false" tIns="0" lIns="0" bIns="0" rIns="0">
            <a:spAutoFit/>
          </a:bodyPr>
          <a:lstStyle/>
          <a:p>
            <a:pPr algn="ctr">
              <a:lnSpc>
                <a:spcPts val="3920"/>
              </a:lnSpc>
              <a:spcBef>
                <a:spcPct val="0"/>
              </a:spcBef>
            </a:pPr>
            <a:r>
              <a:rPr lang="en-US" sz="2800">
                <a:solidFill>
                  <a:srgbClr val="000000"/>
                </a:solidFill>
                <a:latin typeface="Open Sans"/>
                <a:ea typeface="Open Sans"/>
                <a:cs typeface="Open Sans"/>
                <a:sym typeface="Open Sans"/>
              </a:rPr>
              <a:t>If Failed, you have to download PDF Check report and resolve marked errors, then you must Try Again until Passed report. You have a limit of intents; try to resolve all errors at the same time.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045970"/>
            <a:ext cx="18288000" cy="6195060"/>
          </a:xfrm>
          <a:custGeom>
            <a:avLst/>
            <a:gdLst/>
            <a:ahLst/>
            <a:cxnLst/>
            <a:rect r="r" b="b" t="t" l="l"/>
            <a:pathLst>
              <a:path h="6195060" w="18288000">
                <a:moveTo>
                  <a:pt x="0" y="0"/>
                </a:moveTo>
                <a:lnTo>
                  <a:pt x="18288000" y="0"/>
                </a:lnTo>
                <a:lnTo>
                  <a:pt x="18288000" y="6195060"/>
                </a:lnTo>
                <a:lnTo>
                  <a:pt x="0" y="6195060"/>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348740"/>
            <a:ext cx="18288000" cy="7589520"/>
          </a:xfrm>
          <a:custGeom>
            <a:avLst/>
            <a:gdLst/>
            <a:ahLst/>
            <a:cxnLst/>
            <a:rect r="r" b="b" t="t" l="l"/>
            <a:pathLst>
              <a:path h="7589520" w="18288000">
                <a:moveTo>
                  <a:pt x="0" y="0"/>
                </a:moveTo>
                <a:lnTo>
                  <a:pt x="18288000" y="0"/>
                </a:lnTo>
                <a:lnTo>
                  <a:pt x="18288000" y="7589520"/>
                </a:lnTo>
                <a:lnTo>
                  <a:pt x="0" y="7589520"/>
                </a:lnTo>
                <a:lnTo>
                  <a:pt x="0" y="0"/>
                </a:lnTo>
                <a:close/>
              </a:path>
            </a:pathLst>
          </a:custGeom>
          <a:blipFill>
            <a:blip r:embed="rId2"/>
            <a:stretch>
              <a:fillRect l="0" t="0" r="0" b="0"/>
            </a:stretch>
          </a:blipFill>
        </p:spPr>
      </p:sp>
      <p:sp>
        <p:nvSpPr>
          <p:cNvPr name="TextBox 3" id="3"/>
          <p:cNvSpPr txBox="true"/>
          <p:nvPr/>
        </p:nvSpPr>
        <p:spPr>
          <a:xfrm rot="0">
            <a:off x="645616" y="-57150"/>
            <a:ext cx="16996767" cy="464820"/>
          </a:xfrm>
          <a:prstGeom prst="rect">
            <a:avLst/>
          </a:prstGeom>
        </p:spPr>
        <p:txBody>
          <a:bodyPr anchor="t" rtlCol="false" tIns="0" lIns="0" bIns="0" rIns="0">
            <a:spAutoFit/>
          </a:bodyPr>
          <a:lstStyle/>
          <a:p>
            <a:pPr algn="ctr">
              <a:lnSpc>
                <a:spcPts val="3780"/>
              </a:lnSpc>
              <a:spcBef>
                <a:spcPct val="0"/>
              </a:spcBef>
            </a:pPr>
            <a:r>
              <a:rPr lang="en-US" sz="2700">
                <a:solidFill>
                  <a:srgbClr val="000000"/>
                </a:solidFill>
                <a:latin typeface="Open Sans"/>
                <a:ea typeface="Open Sans"/>
                <a:cs typeface="Open Sans"/>
                <a:sym typeface="Open Sans"/>
              </a:rPr>
              <a:t>Passed result. Select Approve for Colletion, download PDF (in title link), and update it on easychair website.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34472" y="614135"/>
            <a:ext cx="11619057" cy="9672865"/>
          </a:xfrm>
          <a:custGeom>
            <a:avLst/>
            <a:gdLst/>
            <a:ahLst/>
            <a:cxnLst/>
            <a:rect r="r" b="b" t="t" l="l"/>
            <a:pathLst>
              <a:path h="9672865" w="11619057">
                <a:moveTo>
                  <a:pt x="0" y="0"/>
                </a:moveTo>
                <a:lnTo>
                  <a:pt x="11619056" y="0"/>
                </a:lnTo>
                <a:lnTo>
                  <a:pt x="11619056" y="9672865"/>
                </a:lnTo>
                <a:lnTo>
                  <a:pt x="0" y="9672865"/>
                </a:lnTo>
                <a:lnTo>
                  <a:pt x="0" y="0"/>
                </a:lnTo>
                <a:close/>
              </a:path>
            </a:pathLst>
          </a:custGeom>
          <a:blipFill>
            <a:blip r:embed="rId2"/>
            <a:stretch>
              <a:fillRect l="0" t="0" r="0" b="0"/>
            </a:stretch>
          </a:blipFill>
        </p:spPr>
      </p:sp>
      <p:sp>
        <p:nvSpPr>
          <p:cNvPr name="TextBox 3" id="3"/>
          <p:cNvSpPr txBox="true"/>
          <p:nvPr/>
        </p:nvSpPr>
        <p:spPr>
          <a:xfrm rot="0">
            <a:off x="148977" y="-57150"/>
            <a:ext cx="17990046" cy="431799"/>
          </a:xfrm>
          <a:prstGeom prst="rect">
            <a:avLst/>
          </a:prstGeom>
        </p:spPr>
        <p:txBody>
          <a:bodyPr anchor="t" rtlCol="false" tIns="0" lIns="0" bIns="0" rIns="0">
            <a:spAutoFit/>
          </a:bodyPr>
          <a:lstStyle/>
          <a:p>
            <a:pPr algn="ctr">
              <a:lnSpc>
                <a:spcPts val="3500"/>
              </a:lnSpc>
              <a:spcBef>
                <a:spcPct val="0"/>
              </a:spcBef>
            </a:pPr>
            <a:r>
              <a:rPr lang="en-US" sz="2500">
                <a:solidFill>
                  <a:srgbClr val="000000"/>
                </a:solidFill>
                <a:latin typeface="Open Sans"/>
                <a:ea typeface="Open Sans"/>
                <a:cs typeface="Open Sans"/>
                <a:sym typeface="Open Sans"/>
              </a:rPr>
              <a:t>Authors can check if they did this phase correctly: document properties — Application certified by IEEE PDFeXpress —date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10795" y="1578819"/>
            <a:ext cx="14666411" cy="8708181"/>
          </a:xfrm>
          <a:custGeom>
            <a:avLst/>
            <a:gdLst/>
            <a:ahLst/>
            <a:cxnLst/>
            <a:rect r="r" b="b" t="t" l="l"/>
            <a:pathLst>
              <a:path h="8708181" w="14666411">
                <a:moveTo>
                  <a:pt x="0" y="0"/>
                </a:moveTo>
                <a:lnTo>
                  <a:pt x="14666410" y="0"/>
                </a:lnTo>
                <a:lnTo>
                  <a:pt x="14666410" y="8708181"/>
                </a:lnTo>
                <a:lnTo>
                  <a:pt x="0" y="8708181"/>
                </a:lnTo>
                <a:lnTo>
                  <a:pt x="0" y="0"/>
                </a:lnTo>
                <a:close/>
              </a:path>
            </a:pathLst>
          </a:custGeom>
          <a:blipFill>
            <a:blip r:embed="rId2"/>
            <a:stretch>
              <a:fillRect l="0" t="0" r="0" b="0"/>
            </a:stretch>
          </a:blipFill>
        </p:spPr>
      </p:sp>
      <p:sp>
        <p:nvSpPr>
          <p:cNvPr name="TextBox 3" id="3"/>
          <p:cNvSpPr txBox="true"/>
          <p:nvPr/>
        </p:nvSpPr>
        <p:spPr>
          <a:xfrm rot="0">
            <a:off x="0" y="-47625"/>
            <a:ext cx="18288000" cy="1406525"/>
          </a:xfrm>
          <a:prstGeom prst="rect">
            <a:avLst/>
          </a:prstGeom>
        </p:spPr>
        <p:txBody>
          <a:bodyPr anchor="t" rtlCol="false" tIns="0" lIns="0" bIns="0" rIns="0">
            <a:spAutoFit/>
          </a:bodyPr>
          <a:lstStyle/>
          <a:p>
            <a:pPr algn="just">
              <a:lnSpc>
                <a:spcPts val="2800"/>
              </a:lnSpc>
              <a:spcBef>
                <a:spcPct val="0"/>
              </a:spcBef>
            </a:pPr>
            <a:r>
              <a:rPr lang="en-US" b="true" sz="2000">
                <a:solidFill>
                  <a:srgbClr val="000000"/>
                </a:solidFill>
                <a:latin typeface="Open Sans Bold"/>
                <a:ea typeface="Open Sans Bold"/>
                <a:cs typeface="Open Sans Bold"/>
                <a:sym typeface="Open Sans Bold"/>
              </a:rPr>
              <a:t>Phase 3. Final version submission on EasyChair.</a:t>
            </a:r>
          </a:p>
          <a:p>
            <a:pPr algn="just">
              <a:lnSpc>
                <a:spcPts val="2800"/>
              </a:lnSpc>
              <a:spcBef>
                <a:spcPct val="0"/>
              </a:spcBef>
            </a:pPr>
            <a:r>
              <a:rPr lang="en-US" sz="2000">
                <a:solidFill>
                  <a:srgbClr val="000000"/>
                </a:solidFill>
                <a:latin typeface="Open Sans"/>
                <a:ea typeface="Open Sans"/>
                <a:cs typeface="Open Sans"/>
                <a:sym typeface="Open Sans"/>
              </a:rPr>
              <a:t>The document generated in phase 2 must be uploaded to the Easychair platform. To do so, enter in Easychair and go to Final Version menu.</a:t>
            </a:r>
          </a:p>
          <a:p>
            <a:pPr algn="just">
              <a:lnSpc>
                <a:spcPts val="2800"/>
              </a:lnSpc>
              <a:spcBef>
                <a:spcPct val="0"/>
              </a:spcBef>
            </a:pPr>
          </a:p>
          <a:p>
            <a:pPr algn="just">
              <a:lnSpc>
                <a:spcPts val="2800"/>
              </a:lnSpc>
              <a:spcBef>
                <a:spcPct val="0"/>
              </a:spcBef>
            </a:pPr>
            <a:r>
              <a:rPr lang="en-US" sz="2000">
                <a:solidFill>
                  <a:srgbClr val="000000"/>
                </a:solidFill>
                <a:latin typeface="Open Sans"/>
                <a:ea typeface="Open Sans"/>
                <a:cs typeface="Open Sans"/>
                <a:sym typeface="Open Sans"/>
              </a:rPr>
              <a:t>Accepted papers have Final Version Access Link from My Submissions menu or directly using “proceedings author (IEEE Proceedings)” role.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325880"/>
            <a:ext cx="18288000" cy="7635240"/>
          </a:xfrm>
          <a:custGeom>
            <a:avLst/>
            <a:gdLst/>
            <a:ahLst/>
            <a:cxnLst/>
            <a:rect r="r" b="b" t="t" l="l"/>
            <a:pathLst>
              <a:path h="7635240" w="18288000">
                <a:moveTo>
                  <a:pt x="0" y="0"/>
                </a:moveTo>
                <a:lnTo>
                  <a:pt x="18288000" y="0"/>
                </a:lnTo>
                <a:lnTo>
                  <a:pt x="18288000" y="7635240"/>
                </a:lnTo>
                <a:lnTo>
                  <a:pt x="0" y="7635240"/>
                </a:lnTo>
                <a:lnTo>
                  <a:pt x="0" y="0"/>
                </a:lnTo>
                <a:close/>
              </a:path>
            </a:pathLst>
          </a:custGeom>
          <a:blipFill>
            <a:blip r:embed="rId2"/>
            <a:stretch>
              <a:fillRect l="0" t="0" r="0" b="0"/>
            </a:stretch>
          </a:blipFill>
        </p:spPr>
      </p:sp>
      <p:sp>
        <p:nvSpPr>
          <p:cNvPr name="TextBox 3" id="3"/>
          <p:cNvSpPr txBox="true"/>
          <p:nvPr/>
        </p:nvSpPr>
        <p:spPr>
          <a:xfrm rot="0">
            <a:off x="4931048" y="-47625"/>
            <a:ext cx="8425904" cy="389254"/>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Open Sans"/>
                <a:ea typeface="Open Sans"/>
                <a:cs typeface="Open Sans"/>
                <a:sym typeface="Open Sans"/>
              </a:rPr>
              <a:t>If you need, also you can update paper title or authors details.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64724" y="0"/>
            <a:ext cx="16558551" cy="10287000"/>
          </a:xfrm>
          <a:custGeom>
            <a:avLst/>
            <a:gdLst/>
            <a:ahLst/>
            <a:cxnLst/>
            <a:rect r="r" b="b" t="t" l="l"/>
            <a:pathLst>
              <a:path h="10287000" w="16558551">
                <a:moveTo>
                  <a:pt x="0" y="0"/>
                </a:moveTo>
                <a:lnTo>
                  <a:pt x="16558552" y="0"/>
                </a:lnTo>
                <a:lnTo>
                  <a:pt x="16558552" y="10287000"/>
                </a:lnTo>
                <a:lnTo>
                  <a:pt x="0" y="10287000"/>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28700"/>
            <a:ext cx="18288000" cy="8115300"/>
          </a:xfrm>
          <a:custGeom>
            <a:avLst/>
            <a:gdLst/>
            <a:ahLst/>
            <a:cxnLst/>
            <a:rect r="r" b="b" t="t" l="l"/>
            <a:pathLst>
              <a:path h="8115300" w="18288000">
                <a:moveTo>
                  <a:pt x="0" y="0"/>
                </a:moveTo>
                <a:lnTo>
                  <a:pt x="18288000" y="0"/>
                </a:lnTo>
                <a:lnTo>
                  <a:pt x="18288000" y="8115300"/>
                </a:lnTo>
                <a:lnTo>
                  <a:pt x="0" y="8115300"/>
                </a:lnTo>
                <a:lnTo>
                  <a:pt x="0" y="0"/>
                </a:lnTo>
                <a:close/>
              </a:path>
            </a:pathLst>
          </a:custGeom>
          <a:blipFill>
            <a:blip r:embed="rId2"/>
            <a:stretch>
              <a:fillRect l="0" t="0" r="0" b="0"/>
            </a:stretch>
          </a:blipFill>
        </p:spPr>
      </p:sp>
      <p:sp>
        <p:nvSpPr>
          <p:cNvPr name="TextBox 3" id="3"/>
          <p:cNvSpPr txBox="true"/>
          <p:nvPr/>
        </p:nvSpPr>
        <p:spPr>
          <a:xfrm rot="0">
            <a:off x="1212056" y="-47625"/>
            <a:ext cx="15863888" cy="789304"/>
          </a:xfrm>
          <a:prstGeom prst="rect">
            <a:avLst/>
          </a:prstGeom>
        </p:spPr>
        <p:txBody>
          <a:bodyPr anchor="t" rtlCol="false" tIns="0" lIns="0" bIns="0" rIns="0">
            <a:spAutoFit/>
          </a:bodyPr>
          <a:lstStyle/>
          <a:p>
            <a:pPr algn="l">
              <a:lnSpc>
                <a:spcPts val="3220"/>
              </a:lnSpc>
              <a:spcBef>
                <a:spcPct val="0"/>
              </a:spcBef>
            </a:pPr>
            <a:r>
              <a:rPr lang="en-US" b="true" sz="2300">
                <a:solidFill>
                  <a:srgbClr val="000000"/>
                </a:solidFill>
                <a:latin typeface="Open Sans Bold"/>
                <a:ea typeface="Open Sans Bold"/>
                <a:cs typeface="Open Sans Bold"/>
                <a:sym typeface="Open Sans Bold"/>
              </a:rPr>
              <a:t>Phase 4. Copyright agreement signature.</a:t>
            </a:r>
          </a:p>
          <a:p>
            <a:pPr algn="l">
              <a:lnSpc>
                <a:spcPts val="3220"/>
              </a:lnSpc>
              <a:spcBef>
                <a:spcPct val="0"/>
              </a:spcBef>
            </a:pPr>
            <a:r>
              <a:rPr lang="en-US" sz="2300">
                <a:solidFill>
                  <a:srgbClr val="000000"/>
                </a:solidFill>
                <a:latin typeface="Open Sans"/>
                <a:ea typeface="Open Sans"/>
                <a:cs typeface="Open Sans"/>
                <a:sym typeface="Open Sans"/>
              </a:rPr>
              <a:t>Finally, appealing to the principles of transparency of the congress, we also kindly ask for filling the copyright section.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0316" y="0"/>
            <a:ext cx="18047368" cy="10287000"/>
          </a:xfrm>
          <a:custGeom>
            <a:avLst/>
            <a:gdLst/>
            <a:ahLst/>
            <a:cxnLst/>
            <a:rect r="r" b="b" t="t" l="l"/>
            <a:pathLst>
              <a:path h="10287000" w="18047368">
                <a:moveTo>
                  <a:pt x="0" y="0"/>
                </a:moveTo>
                <a:lnTo>
                  <a:pt x="18047368" y="0"/>
                </a:lnTo>
                <a:lnTo>
                  <a:pt x="18047368" y="10287000"/>
                </a:lnTo>
                <a:lnTo>
                  <a:pt x="0" y="10287000"/>
                </a:lnTo>
                <a:lnTo>
                  <a:pt x="0" y="0"/>
                </a:lnTo>
                <a:close/>
              </a:path>
            </a:pathLst>
          </a:custGeom>
          <a:blipFill>
            <a:blip r:embed="rId2"/>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28700"/>
            <a:ext cx="18288000" cy="8366760"/>
          </a:xfrm>
          <a:custGeom>
            <a:avLst/>
            <a:gdLst/>
            <a:ahLst/>
            <a:cxnLst/>
            <a:rect r="r" b="b" t="t" l="l"/>
            <a:pathLst>
              <a:path h="8366760" w="18288000">
                <a:moveTo>
                  <a:pt x="0" y="0"/>
                </a:moveTo>
                <a:lnTo>
                  <a:pt x="18288000" y="0"/>
                </a:lnTo>
                <a:lnTo>
                  <a:pt x="18288000" y="8366760"/>
                </a:lnTo>
                <a:lnTo>
                  <a:pt x="0" y="8366760"/>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255804"/>
            <a:ext cx="18244840" cy="9031196"/>
          </a:xfrm>
          <a:custGeom>
            <a:avLst/>
            <a:gdLst/>
            <a:ahLst/>
            <a:cxnLst/>
            <a:rect r="r" b="b" t="t" l="l"/>
            <a:pathLst>
              <a:path h="9031196" w="18244840">
                <a:moveTo>
                  <a:pt x="0" y="0"/>
                </a:moveTo>
                <a:lnTo>
                  <a:pt x="18244840" y="0"/>
                </a:lnTo>
                <a:lnTo>
                  <a:pt x="18244840" y="9031196"/>
                </a:lnTo>
                <a:lnTo>
                  <a:pt x="0" y="9031196"/>
                </a:lnTo>
                <a:lnTo>
                  <a:pt x="0" y="0"/>
                </a:lnTo>
                <a:close/>
              </a:path>
            </a:pathLst>
          </a:custGeom>
          <a:blipFill>
            <a:blip r:embed="rId2"/>
            <a:stretch>
              <a:fillRect l="0" t="0" r="0" b="0"/>
            </a:stretch>
          </a:blipFill>
        </p:spPr>
      </p:sp>
      <p:sp>
        <p:nvSpPr>
          <p:cNvPr name="TextBox 3" id="3"/>
          <p:cNvSpPr txBox="true"/>
          <p:nvPr/>
        </p:nvSpPr>
        <p:spPr>
          <a:xfrm rot="0">
            <a:off x="0" y="-38100"/>
            <a:ext cx="18288000" cy="815339"/>
          </a:xfrm>
          <a:prstGeom prst="rect">
            <a:avLst/>
          </a:prstGeom>
        </p:spPr>
        <p:txBody>
          <a:bodyPr anchor="t" rtlCol="false" tIns="0" lIns="0" bIns="0" rIns="0">
            <a:spAutoFit/>
          </a:bodyPr>
          <a:lstStyle/>
          <a:p>
            <a:pPr algn="ctr">
              <a:lnSpc>
                <a:spcPts val="3360"/>
              </a:lnSpc>
              <a:spcBef>
                <a:spcPct val="0"/>
              </a:spcBef>
            </a:pPr>
            <a:r>
              <a:rPr lang="en-US" sz="2400">
                <a:solidFill>
                  <a:srgbClr val="000000"/>
                </a:solidFill>
                <a:latin typeface="Open Sans"/>
                <a:ea typeface="Open Sans"/>
                <a:cs typeface="Open Sans"/>
                <a:sym typeface="Open Sans"/>
              </a:rPr>
              <a:t>Article Title and Authors must be the same as in Easychair, in case of error, please update it in Easychair platform first and then start copyright form again.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62987" y="0"/>
            <a:ext cx="17362025" cy="10287000"/>
          </a:xfrm>
          <a:custGeom>
            <a:avLst/>
            <a:gdLst/>
            <a:ahLst/>
            <a:cxnLst/>
            <a:rect r="r" b="b" t="t" l="l"/>
            <a:pathLst>
              <a:path h="10287000" w="17362025">
                <a:moveTo>
                  <a:pt x="0" y="0"/>
                </a:moveTo>
                <a:lnTo>
                  <a:pt x="17362026" y="0"/>
                </a:lnTo>
                <a:lnTo>
                  <a:pt x="17362026" y="10287000"/>
                </a:lnTo>
                <a:lnTo>
                  <a:pt x="0" y="10287000"/>
                </a:lnTo>
                <a:lnTo>
                  <a:pt x="0" y="0"/>
                </a:lnTo>
                <a:close/>
              </a:path>
            </a:pathLst>
          </a:custGeom>
          <a:blipFill>
            <a:blip r:embed="rId2"/>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46041" y="0"/>
            <a:ext cx="13995918" cy="10287000"/>
          </a:xfrm>
          <a:custGeom>
            <a:avLst/>
            <a:gdLst/>
            <a:ahLst/>
            <a:cxnLst/>
            <a:rect r="r" b="b" t="t" l="l"/>
            <a:pathLst>
              <a:path h="10287000" w="13995918">
                <a:moveTo>
                  <a:pt x="0" y="0"/>
                </a:moveTo>
                <a:lnTo>
                  <a:pt x="13995918" y="0"/>
                </a:lnTo>
                <a:lnTo>
                  <a:pt x="13995918" y="10287000"/>
                </a:lnTo>
                <a:lnTo>
                  <a:pt x="0" y="10287000"/>
                </a:lnTo>
                <a:lnTo>
                  <a:pt x="0" y="0"/>
                </a:lnTo>
                <a:close/>
              </a:path>
            </a:pathLst>
          </a:custGeom>
          <a:blipFill>
            <a:blip r:embed="rId2"/>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5316" y="0"/>
            <a:ext cx="17777369" cy="10244209"/>
          </a:xfrm>
          <a:custGeom>
            <a:avLst/>
            <a:gdLst/>
            <a:ahLst/>
            <a:cxnLst/>
            <a:rect r="r" b="b" t="t" l="l"/>
            <a:pathLst>
              <a:path h="10244209" w="17777369">
                <a:moveTo>
                  <a:pt x="0" y="0"/>
                </a:moveTo>
                <a:lnTo>
                  <a:pt x="17777368" y="0"/>
                </a:lnTo>
                <a:lnTo>
                  <a:pt x="17777368" y="10244209"/>
                </a:lnTo>
                <a:lnTo>
                  <a:pt x="0" y="10244209"/>
                </a:lnTo>
                <a:lnTo>
                  <a:pt x="0" y="0"/>
                </a:lnTo>
                <a:close/>
              </a:path>
            </a:pathLst>
          </a:custGeom>
          <a:blipFill>
            <a:blip r:embed="rId2"/>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77333" y="0"/>
            <a:ext cx="16933333" cy="10287000"/>
          </a:xfrm>
          <a:custGeom>
            <a:avLst/>
            <a:gdLst/>
            <a:ahLst/>
            <a:cxnLst/>
            <a:rect r="r" b="b" t="t" l="l"/>
            <a:pathLst>
              <a:path h="10287000" w="16933333">
                <a:moveTo>
                  <a:pt x="0" y="0"/>
                </a:moveTo>
                <a:lnTo>
                  <a:pt x="16933334" y="0"/>
                </a:lnTo>
                <a:lnTo>
                  <a:pt x="16933334" y="10287000"/>
                </a:lnTo>
                <a:lnTo>
                  <a:pt x="0" y="10287000"/>
                </a:lnTo>
                <a:lnTo>
                  <a:pt x="0" y="0"/>
                </a:lnTo>
                <a:close/>
              </a:path>
            </a:pathLst>
          </a:custGeom>
          <a:blipFill>
            <a:blip r:embed="rId2"/>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3552" y="0"/>
            <a:ext cx="16760896" cy="10287000"/>
          </a:xfrm>
          <a:custGeom>
            <a:avLst/>
            <a:gdLst/>
            <a:ahLst/>
            <a:cxnLst/>
            <a:rect r="r" b="b" t="t" l="l"/>
            <a:pathLst>
              <a:path h="10287000" w="16760896">
                <a:moveTo>
                  <a:pt x="0" y="0"/>
                </a:moveTo>
                <a:lnTo>
                  <a:pt x="16760896" y="0"/>
                </a:lnTo>
                <a:lnTo>
                  <a:pt x="16760896" y="10287000"/>
                </a:lnTo>
                <a:lnTo>
                  <a:pt x="0" y="10287000"/>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DAHFia3islM</dc:identifier>
  <dcterms:modified xsi:type="dcterms:W3CDTF">2011-08-01T06:04:30Z</dcterms:modified>
  <cp:revision>1</cp:revision>
  <dc:title>Camera-Ready</dc:title>
</cp:coreProperties>
</file>